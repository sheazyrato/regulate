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F207FA6-DF1E-7000-3E76-E65DF42D9CAB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7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3A0A14"/>
                </a:solidFill>
                <a:latin typeface="+mn-lt"/>
              </a:defRPr>
            </a:pPr>
            <a:r>
              <a:rPr lang="en-GB" sz="1200" b="0" i="0" u="none" strike="noStrike">
                <a:solidFill>
                  <a:srgbClr val="3A0A14"/>
                </a:solidFill>
                <a:latin typeface="+mn-lt"/>
              </a:rPr>
              <a:t>Last six cycles in days (illustrative data)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Cycle length (days)</c:v>
                </c:pt>
              </c:strCache>
            </c:strRef>
          </c:tx>
          <c:spPr>
            <a:solidFill>
              <a:srgbClr val="C4384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A0A14"/>
                    </a:solidFill>
                    <a:latin typeface="+mn-lt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#1</c:v>
                </c:pt>
                <c:pt idx="1">
                  <c:v>#2</c:v>
                </c:pt>
                <c:pt idx="2">
                  <c:v>#3</c:v>
                </c:pt>
                <c:pt idx="3">
                  <c:v>#4</c:v>
                </c:pt>
                <c:pt idx="4">
                  <c:v>#5</c:v>
                </c:pt>
                <c:pt idx="5">
                  <c:v>#6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78</c:v>
                </c:pt>
                <c:pt idx="2">
                  <c:v>52</c:v>
                </c:pt>
                <c:pt idx="3">
                  <c:v>34</c:v>
                </c:pt>
                <c:pt idx="4">
                  <c:v>58</c:v>
                </c:pt>
                <c:pt idx="5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D0-4501-8009-B0B1A27D7A2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0A1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F9E5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0A14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7551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5E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9E5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727448"/>
            <a:ext cx="274320" cy="2743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47274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Regulate  ·  Android project outline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2744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2744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600" b="1" dirty="0">
                <a:solidFill>
                  <a:schemeClr val="bg2"/>
                </a:solidFill>
                <a:latin typeface="+mj-lt"/>
              </a:rPr>
              <a:t>Regulate</a:t>
            </a:r>
            <a:endParaRPr lang="en-US" sz="5600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2423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4"/>
                </a:solidFill>
              </a:rPr>
              <a:t>A privacy-first Android tracker for users who have irregular and heavy periods</a:t>
            </a:r>
            <a:endParaRPr lang="en-US" sz="1800" dirty="0"/>
          </a:p>
        </p:txBody>
      </p:sp>
      <p:sp>
        <p:nvSpPr>
          <p:cNvPr id="4" name="Tagline"/>
          <p:cNvSpPr txBox="1"/>
          <p:nvPr/>
        </p:nvSpPr>
        <p:spPr>
          <a:xfrm>
            <a:off x="640080" y="35204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Understanding rather than simply predicting</a:t>
            </a:r>
            <a:endParaRPr lang="en-US" sz="1600" dirty="0"/>
          </a:p>
        </p:txBody>
      </p:sp>
      <p:sp>
        <p:nvSpPr>
          <p:cNvPr id="5" name="Category"/>
          <p:cNvSpPr txBox="1"/>
          <p:nvPr/>
        </p:nvSpPr>
        <p:spPr>
          <a:xfrm>
            <a:off x="640080" y="443484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3"/>
                </a:solidFill>
              </a:rPr>
              <a:t>Android project outline  ·  Health &amp; Fitness</a:t>
            </a:r>
            <a:endParaRPr lang="en-US" sz="1200" dirty="0"/>
          </a:p>
        </p:txBody>
      </p:sp>
      <p:pic>
        <p:nvPicPr>
          <p:cNvPr id="6" name="Regulate logo" descr="Regulate app icon: a blood drop inside an orbit of cycle dot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868680"/>
            <a:ext cx="3200400" cy="31912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Predicting isn't enough</a:t>
            </a:r>
            <a:endParaRPr lang="en-US" sz="32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188720"/>
            <a:ext cx="475488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4" name="Problem 1 circle"/>
          <p:cNvSpPr/>
          <p:nvPr/>
        </p:nvSpPr>
        <p:spPr>
          <a:xfrm>
            <a:off x="640080" y="1408176"/>
            <a:ext cx="548640" cy="548640"/>
          </a:xfrm>
          <a:prstGeom prst="ellipse">
            <a:avLst/>
          </a:prstGeom>
          <a:solidFill>
            <a:srgbClr val="8E1B33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5" name="Problem 1 icon" descr="Probl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3" y="1556309"/>
            <a:ext cx="252374" cy="2523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80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Irregular and heavy cycles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57276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Two of our three-person team live with them, which is where the idea came from.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457200" y="2304288"/>
            <a:ext cx="475488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" name="Problem 2 circle"/>
          <p:cNvSpPr/>
          <p:nvPr/>
        </p:nvSpPr>
        <p:spPr>
          <a:xfrm>
            <a:off x="640080" y="2523744"/>
            <a:ext cx="548640" cy="548640"/>
          </a:xfrm>
          <a:prstGeom prst="ellipse">
            <a:avLst/>
          </a:prstGeom>
          <a:solidFill>
            <a:srgbClr val="8E1B33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10" name="Problem 2 icon" descr="Probl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213" y="2671877"/>
            <a:ext cx="252374" cy="25237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3957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Predictions fall flat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371600" y="268833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Most trackers centre on the next date, which breaks when cycles vary.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457200" y="3419856"/>
            <a:ext cx="475488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4" name="Problem 3 circle"/>
          <p:cNvSpPr/>
          <p:nvPr/>
        </p:nvSpPr>
        <p:spPr>
          <a:xfrm>
            <a:off x="640080" y="3639312"/>
            <a:ext cx="548640" cy="548640"/>
          </a:xfrm>
          <a:prstGeom prst="ellipse">
            <a:avLst/>
          </a:prstGeom>
          <a:solidFill>
            <a:srgbClr val="8E1B33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15" name="Problem 3 icon" descr="Probl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3" y="3787445"/>
            <a:ext cx="252374" cy="25237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3511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Privacy is personal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380390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Reproductive health data is sensitive: no account, no server.</a:t>
            </a:r>
            <a:endParaRPr lang="en-US" sz="1400" dirty="0"/>
          </a:p>
        </p:txBody>
      </p:sp>
      <p:sp>
        <p:nvSpPr>
          <p:cNvPr id="18" name="Stats panel"/>
          <p:cNvSpPr/>
          <p:nvPr/>
        </p:nvSpPr>
        <p:spPr>
          <a:xfrm>
            <a:off x="5486400" y="1188720"/>
            <a:ext cx="3200400" cy="3218688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9" name="Stat 1"/>
          <p:cNvSpPr txBox="1"/>
          <p:nvPr/>
        </p:nvSpPr>
        <p:spPr>
          <a:xfrm>
            <a:off x="5760720" y="13258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 of 3</a:t>
            </a:r>
            <a:endParaRPr lang="en-US" sz="3800" dirty="0"/>
          </a:p>
        </p:txBody>
      </p:sp>
      <p:sp>
        <p:nvSpPr>
          <p:cNvPr id="20" name="Stat caption 1"/>
          <p:cNvSpPr txBox="1"/>
          <p:nvPr/>
        </p:nvSpPr>
        <p:spPr>
          <a:xfrm>
            <a:off x="5760720" y="189280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team members with lived experience</a:t>
            </a:r>
            <a:endParaRPr lang="en-US" sz="1300" dirty="0"/>
          </a:p>
        </p:txBody>
      </p:sp>
      <p:sp>
        <p:nvSpPr>
          <p:cNvPr id="21" name="Stat 2"/>
          <p:cNvSpPr txBox="1"/>
          <p:nvPr/>
        </p:nvSpPr>
        <p:spPr>
          <a:xfrm>
            <a:off x="5760720" y="23500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</a:t>
            </a:r>
            <a:endParaRPr lang="en-US" sz="3800" dirty="0"/>
          </a:p>
        </p:txBody>
      </p:sp>
      <p:sp>
        <p:nvSpPr>
          <p:cNvPr id="22" name="Stat caption 2"/>
          <p:cNvSpPr txBox="1"/>
          <p:nvPr/>
        </p:nvSpPr>
        <p:spPr>
          <a:xfrm>
            <a:off x="5760720" y="2916936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accounts or servers required</a:t>
            </a:r>
            <a:endParaRPr lang="en-US" sz="1300" dirty="0"/>
          </a:p>
        </p:txBody>
      </p:sp>
      <p:sp>
        <p:nvSpPr>
          <p:cNvPr id="23" name="Stat 3"/>
          <p:cNvSpPr txBox="1"/>
          <p:nvPr/>
        </p:nvSpPr>
        <p:spPr>
          <a:xfrm>
            <a:off x="5760720" y="33741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</a:t>
            </a:r>
            <a:endParaRPr lang="en-US" sz="3800" dirty="0"/>
          </a:p>
        </p:txBody>
      </p:sp>
      <p:sp>
        <p:nvSpPr>
          <p:cNvPr id="24" name="Stat caption 3"/>
          <p:cNvSpPr txBox="1"/>
          <p:nvPr/>
        </p:nvSpPr>
        <p:spPr>
          <a:xfrm>
            <a:off x="5760720" y="394106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4"/>
                </a:solidFill>
              </a:rPr>
              <a:t>weeks of development, Weeks 5–15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2744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Where existing apps fall short</a:t>
            </a:r>
            <a:endParaRPr lang="en-US" sz="3200" dirty="0"/>
          </a:p>
        </p:txBody>
      </p:sp>
      <p:sp>
        <p:nvSpPr>
          <p:cNvPr id="3" name="App card Flo"/>
          <p:cNvSpPr/>
          <p:nvPr/>
        </p:nvSpPr>
        <p:spPr>
          <a:xfrm>
            <a:off x="457200" y="1143000"/>
            <a:ext cx="26060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Flo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Anonymous Mode, predictions, reminders</a:t>
            </a:r>
            <a:endParaRPr lang="en-US" sz="1100" dirty="0"/>
          </a:p>
        </p:txBody>
      </p:sp>
      <p:sp>
        <p:nvSpPr>
          <p:cNvPr id="6" name="App card Clue"/>
          <p:cNvSpPr/>
          <p:nvPr/>
        </p:nvSpPr>
        <p:spPr>
          <a:xfrm>
            <a:off x="3268980" y="1143000"/>
            <a:ext cx="26060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7" name="Text 5"/>
          <p:cNvSpPr txBox="1"/>
          <p:nvPr/>
        </p:nvSpPr>
        <p:spPr>
          <a:xfrm>
            <a:off x="3451860" y="1207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Clue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5186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Graphs and analysis beyond a calendar</a:t>
            </a:r>
            <a:endParaRPr lang="en-US" sz="1100" dirty="0"/>
          </a:p>
        </p:txBody>
      </p:sp>
      <p:sp>
        <p:nvSpPr>
          <p:cNvPr id="9" name="App card Euki"/>
          <p:cNvSpPr/>
          <p:nvPr/>
        </p:nvSpPr>
        <p:spPr>
          <a:xfrm>
            <a:off x="6080760" y="1143000"/>
            <a:ext cx="2606040" cy="749808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6263640" y="12070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Euki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4813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No account, on-device data, PIN, offline</a:t>
            </a:r>
            <a:endParaRPr lang="en-US" sz="1100" dirty="0"/>
          </a:p>
        </p:txBody>
      </p:sp>
      <p:graphicFrame>
        <p:nvGraphicFramePr>
          <p:cNvPr id="12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767083"/>
              </p:ext>
            </p:extLst>
          </p:nvPr>
        </p:nvGraphicFramePr>
        <p:xfrm>
          <a:off x="457196" y="2103120"/>
          <a:ext cx="5623564" cy="2551642"/>
        </p:xfrm>
        <a:graphic>
          <a:graphicData uri="http://schemas.openxmlformats.org/drawingml/2006/table">
            <a:tbl>
              <a:tblPr/>
              <a:tblGrid>
                <a:gridCol w="2374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2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22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229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8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Flo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Clue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Euki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Regulate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Cycle prediction is the main feature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Personal baseline, not population norm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Irregular-cycle-specific analysis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8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Symptom–cycle correlation insights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Detailed bleeding (clots, flooding, products)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8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Healthcare appointment summary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07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Local-only storage, no account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37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Discreet mode (notifications, icon, lock)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chemeClr val="accent2"/>
                          </a:solidFill>
                        </a:rPr>
                        <a:t>Partial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9E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2744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6C2B375-ADF7-26EC-E7DB-A50800A2B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062992"/>
            <a:ext cx="1324420" cy="266540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B071795-87D7-0165-C617-BE370BDBCD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561" y="2045340"/>
            <a:ext cx="1324420" cy="26821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Regulate does</a:t>
            </a:r>
            <a:endParaRPr lang="en-US" sz="3200" dirty="0"/>
          </a:p>
        </p:txBody>
      </p:sp>
      <p:sp>
        <p:nvSpPr>
          <p:cNvPr id="3" name="Phone frame"/>
          <p:cNvSpPr/>
          <p:nvPr/>
        </p:nvSpPr>
        <p:spPr>
          <a:xfrm>
            <a:off x="457200" y="1143000"/>
            <a:ext cx="2286000" cy="3383280"/>
          </a:xfrm>
          <a:prstGeom prst="roundRect">
            <a:avLst>
              <a:gd name="adj" fmla="val 11200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4" name="Phone screen"/>
          <p:cNvSpPr/>
          <p:nvPr/>
        </p:nvSpPr>
        <p:spPr>
          <a:xfrm>
            <a:off x="548640" y="1252728"/>
            <a:ext cx="2103120" cy="3163824"/>
          </a:xfrm>
          <a:prstGeom prst="roundRect">
            <a:avLst>
              <a:gd name="adj" fmla="val 8696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5" name="Text 3"/>
          <p:cNvSpPr txBox="1"/>
          <p:nvPr/>
        </p:nvSpPr>
        <p:spPr>
          <a:xfrm>
            <a:off x="685800" y="1389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/>
                </a:solidFill>
              </a:rPr>
              <a:t>Log today · Day 4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7282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Bleeding</a:t>
            </a:r>
            <a:endParaRPr lang="en-US" sz="1000" dirty="0"/>
          </a:p>
        </p:txBody>
      </p:sp>
      <p:sp>
        <p:nvSpPr>
          <p:cNvPr id="7" name="Chip Light"/>
          <p:cNvSpPr/>
          <p:nvPr/>
        </p:nvSpPr>
        <p:spPr>
          <a:xfrm>
            <a:off x="685800" y="1911096"/>
            <a:ext cx="54864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8" name="Text 6"/>
          <p:cNvSpPr txBox="1"/>
          <p:nvPr/>
        </p:nvSpPr>
        <p:spPr>
          <a:xfrm>
            <a:off x="685800" y="191109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Light</a:t>
            </a:r>
            <a:endParaRPr lang="en-US" sz="1000" dirty="0"/>
          </a:p>
        </p:txBody>
      </p:sp>
      <p:sp>
        <p:nvSpPr>
          <p:cNvPr id="9" name="Chip Medium"/>
          <p:cNvSpPr/>
          <p:nvPr/>
        </p:nvSpPr>
        <p:spPr>
          <a:xfrm>
            <a:off x="1289304" y="1911096"/>
            <a:ext cx="621792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1289304" y="1911096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Medium</a:t>
            </a:r>
            <a:endParaRPr lang="en-US" sz="1000" dirty="0"/>
          </a:p>
        </p:txBody>
      </p:sp>
      <p:sp>
        <p:nvSpPr>
          <p:cNvPr id="11" name="Chip Heavy"/>
          <p:cNvSpPr/>
          <p:nvPr/>
        </p:nvSpPr>
        <p:spPr>
          <a:xfrm>
            <a:off x="1965960" y="1911096"/>
            <a:ext cx="54864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2" name="Text 10"/>
          <p:cNvSpPr txBox="1"/>
          <p:nvPr/>
        </p:nvSpPr>
        <p:spPr>
          <a:xfrm>
            <a:off x="1965960" y="191109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Heavy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2240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Products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2423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4 pads · changed every 2 h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6974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Clots</a:t>
            </a:r>
            <a:endParaRPr lang="en-US" sz="1000" dirty="0"/>
          </a:p>
        </p:txBody>
      </p:sp>
      <p:sp>
        <p:nvSpPr>
          <p:cNvPr id="16" name="Toggle Clots"/>
          <p:cNvSpPr/>
          <p:nvPr/>
        </p:nvSpPr>
        <p:spPr>
          <a:xfrm>
            <a:off x="1216152" y="2715768"/>
            <a:ext cx="274320" cy="16459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7" name="Toggle knob Clots"/>
          <p:cNvSpPr/>
          <p:nvPr/>
        </p:nvSpPr>
        <p:spPr>
          <a:xfrm>
            <a:off x="1344168" y="2734056"/>
            <a:ext cx="128016" cy="128016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1600200" y="269748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1"/>
                </a:solidFill>
              </a:rPr>
              <a:t>Flooding</a:t>
            </a:r>
            <a:endParaRPr lang="en-US" sz="1000" dirty="0"/>
          </a:p>
        </p:txBody>
      </p:sp>
      <p:sp>
        <p:nvSpPr>
          <p:cNvPr id="19" name="Toggle Flooding"/>
          <p:cNvSpPr/>
          <p:nvPr/>
        </p:nvSpPr>
        <p:spPr>
          <a:xfrm>
            <a:off x="2130552" y="2715768"/>
            <a:ext cx="274320" cy="16459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oggle knob Flooding"/>
          <p:cNvSpPr/>
          <p:nvPr/>
        </p:nvSpPr>
        <p:spPr>
          <a:xfrm>
            <a:off x="2148840" y="2734056"/>
            <a:ext cx="128016" cy="128016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1" name="Text 19"/>
          <p:cNvSpPr txBox="1"/>
          <p:nvPr/>
        </p:nvSpPr>
        <p:spPr>
          <a:xfrm>
            <a:off x="685800" y="299008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Symptoms</a:t>
            </a:r>
            <a:endParaRPr lang="en-US" sz="1000" dirty="0"/>
          </a:p>
        </p:txBody>
      </p:sp>
      <p:sp>
        <p:nvSpPr>
          <p:cNvPr id="22" name="Chip Cramps"/>
          <p:cNvSpPr/>
          <p:nvPr/>
        </p:nvSpPr>
        <p:spPr>
          <a:xfrm>
            <a:off x="685800" y="3172968"/>
            <a:ext cx="566928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3" name="Text 21"/>
          <p:cNvSpPr txBox="1"/>
          <p:nvPr/>
        </p:nvSpPr>
        <p:spPr>
          <a:xfrm>
            <a:off x="685800" y="31729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Cramps</a:t>
            </a:r>
            <a:endParaRPr lang="en-US" sz="1000" dirty="0"/>
          </a:p>
        </p:txBody>
      </p:sp>
      <p:sp>
        <p:nvSpPr>
          <p:cNvPr id="24" name="Chip Fatigue"/>
          <p:cNvSpPr/>
          <p:nvPr/>
        </p:nvSpPr>
        <p:spPr>
          <a:xfrm>
            <a:off x="1298448" y="3172968"/>
            <a:ext cx="566928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5" name="Text 23"/>
          <p:cNvSpPr txBox="1"/>
          <p:nvPr/>
        </p:nvSpPr>
        <p:spPr>
          <a:xfrm>
            <a:off x="1298448" y="3172968"/>
            <a:ext cx="5669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Fatigue</a:t>
            </a:r>
            <a:endParaRPr lang="en-US" sz="1000" dirty="0"/>
          </a:p>
        </p:txBody>
      </p:sp>
      <p:sp>
        <p:nvSpPr>
          <p:cNvPr id="26" name="Chip Nausea"/>
          <p:cNvSpPr/>
          <p:nvPr/>
        </p:nvSpPr>
        <p:spPr>
          <a:xfrm>
            <a:off x="1911096" y="3172968"/>
            <a:ext cx="603504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7" name="Text 25"/>
          <p:cNvSpPr txBox="1"/>
          <p:nvPr/>
        </p:nvSpPr>
        <p:spPr>
          <a:xfrm>
            <a:off x="1911096" y="317296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Nausea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35021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Impact on your day</a:t>
            </a:r>
            <a:endParaRPr lang="en-US" sz="1000" dirty="0"/>
          </a:p>
        </p:txBody>
      </p:sp>
      <p:sp>
        <p:nvSpPr>
          <p:cNvPr id="29" name="Chip Missed work"/>
          <p:cNvSpPr/>
          <p:nvPr/>
        </p:nvSpPr>
        <p:spPr>
          <a:xfrm>
            <a:off x="685800" y="3685032"/>
            <a:ext cx="868680" cy="23774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685800" y="36850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Missed work</a:t>
            </a:r>
            <a:endParaRPr lang="en-US" sz="1000" dirty="0"/>
          </a:p>
        </p:txBody>
      </p:sp>
      <p:sp>
        <p:nvSpPr>
          <p:cNvPr id="31" name="Chip Stayed in"/>
          <p:cNvSpPr/>
          <p:nvPr/>
        </p:nvSpPr>
        <p:spPr>
          <a:xfrm>
            <a:off x="1600200" y="3685032"/>
            <a:ext cx="73152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2" name="Text 30"/>
          <p:cNvSpPr txBox="1"/>
          <p:nvPr/>
        </p:nvSpPr>
        <p:spPr>
          <a:xfrm>
            <a:off x="1600200" y="36850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tx1"/>
                </a:solidFill>
              </a:rPr>
              <a:t>Stayed in</a:t>
            </a:r>
            <a:endParaRPr lang="en-US" sz="1000" dirty="0"/>
          </a:p>
        </p:txBody>
      </p:sp>
      <p:sp>
        <p:nvSpPr>
          <p:cNvPr id="33" name="Save button"/>
          <p:cNvSpPr/>
          <p:nvPr/>
        </p:nvSpPr>
        <p:spPr>
          <a:xfrm>
            <a:off x="685800" y="4041648"/>
            <a:ext cx="1828800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4" name="Text 32"/>
          <p:cNvSpPr txBox="1"/>
          <p:nvPr/>
        </p:nvSpPr>
        <p:spPr>
          <a:xfrm>
            <a:off x="685800" y="40416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Save entry</a:t>
            </a:r>
            <a:endParaRPr lang="en-US" sz="1100" dirty="0"/>
          </a:p>
        </p:txBody>
      </p:sp>
      <p:sp>
        <p:nvSpPr>
          <p:cNvPr id="35" name="Feature card 1"/>
          <p:cNvSpPr/>
          <p:nvPr/>
        </p:nvSpPr>
        <p:spPr>
          <a:xfrm>
            <a:off x="3017520" y="114300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36" name="Feature 1 circle"/>
          <p:cNvSpPr/>
          <p:nvPr/>
        </p:nvSpPr>
        <p:spPr>
          <a:xfrm>
            <a:off x="3154680" y="1399032"/>
            <a:ext cx="493776" cy="493776"/>
          </a:xfrm>
          <a:prstGeom prst="ellipse">
            <a:avLst/>
          </a:prstGeom>
          <a:solidFill>
            <a:srgbClr val="8E1B33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37" name="Feature 1 icon" descr="Fea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000" y="1532352"/>
            <a:ext cx="227137" cy="227137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3749040" y="1252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Detailed bleeding</a:t>
            </a:r>
            <a:endParaRPr lang="en-US" sz="1400" dirty="0"/>
          </a:p>
        </p:txBody>
      </p:sp>
      <p:sp>
        <p:nvSpPr>
          <p:cNvPr id="39" name="Text 36"/>
          <p:cNvSpPr txBox="1"/>
          <p:nvPr/>
        </p:nvSpPr>
        <p:spPr>
          <a:xfrm>
            <a:off x="3749040" y="15453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Intensity, products, clots, flooding, spotting</a:t>
            </a:r>
            <a:endParaRPr lang="en-US" sz="1100" dirty="0"/>
          </a:p>
        </p:txBody>
      </p:sp>
      <p:sp>
        <p:nvSpPr>
          <p:cNvPr id="40" name="Feature card 2"/>
          <p:cNvSpPr/>
          <p:nvPr/>
        </p:nvSpPr>
        <p:spPr>
          <a:xfrm>
            <a:off x="5943600" y="114300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41" name="Feature 2 circle"/>
          <p:cNvSpPr/>
          <p:nvPr/>
        </p:nvSpPr>
        <p:spPr>
          <a:xfrm>
            <a:off x="6080760" y="1399032"/>
            <a:ext cx="493776" cy="493776"/>
          </a:xfrm>
          <a:prstGeom prst="ellipse">
            <a:avLst/>
          </a:prstGeom>
          <a:solidFill>
            <a:srgbClr val="C4384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42" name="Feature 2 icon" descr="Fea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4080" y="1532352"/>
            <a:ext cx="227137" cy="227137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6675120" y="1252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Symptoms and impact</a:t>
            </a:r>
            <a:endParaRPr lang="en-US" sz="1400" dirty="0"/>
          </a:p>
        </p:txBody>
      </p:sp>
      <p:sp>
        <p:nvSpPr>
          <p:cNvPr id="44" name="Text 40"/>
          <p:cNvSpPr txBox="1"/>
          <p:nvPr/>
        </p:nvSpPr>
        <p:spPr>
          <a:xfrm>
            <a:off x="6675120" y="15453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Pain, mood, sleep and what you missed</a:t>
            </a:r>
            <a:endParaRPr lang="en-US" sz="1100" dirty="0"/>
          </a:p>
        </p:txBody>
      </p:sp>
      <p:sp>
        <p:nvSpPr>
          <p:cNvPr id="45" name="Feature card 3"/>
          <p:cNvSpPr/>
          <p:nvPr/>
        </p:nvSpPr>
        <p:spPr>
          <a:xfrm>
            <a:off x="3017520" y="228600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46" name="Feature 3 circle"/>
          <p:cNvSpPr/>
          <p:nvPr/>
        </p:nvSpPr>
        <p:spPr>
          <a:xfrm>
            <a:off x="3154680" y="2542032"/>
            <a:ext cx="493776" cy="493776"/>
          </a:xfrm>
          <a:prstGeom prst="ellipse">
            <a:avLst/>
          </a:prstGeom>
          <a:solidFill>
            <a:srgbClr val="8E1B33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47" name="Feature 3 icon" descr="Fea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8000" y="2675352"/>
            <a:ext cx="227137" cy="227137"/>
          </a:xfrm>
          <a:prstGeom prst="rect">
            <a:avLst/>
          </a:prstGeom>
        </p:spPr>
      </p:pic>
      <p:sp>
        <p:nvSpPr>
          <p:cNvPr id="48" name="Text 43"/>
          <p:cNvSpPr txBox="1"/>
          <p:nvPr/>
        </p:nvSpPr>
        <p:spPr>
          <a:xfrm>
            <a:off x="3749040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My Pattern</a:t>
            </a:r>
            <a:endParaRPr lang="en-US" sz="1400" dirty="0"/>
          </a:p>
        </p:txBody>
      </p:sp>
      <p:sp>
        <p:nvSpPr>
          <p:cNvPr id="49" name="Text 44"/>
          <p:cNvSpPr txBox="1"/>
          <p:nvPr/>
        </p:nvSpPr>
        <p:spPr>
          <a:xfrm>
            <a:off x="3749040" y="26883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Your own shortest, longest and average cycle</a:t>
            </a:r>
            <a:endParaRPr lang="en-US" sz="1100" dirty="0"/>
          </a:p>
        </p:txBody>
      </p:sp>
      <p:sp>
        <p:nvSpPr>
          <p:cNvPr id="50" name="Feature card 4"/>
          <p:cNvSpPr/>
          <p:nvPr/>
        </p:nvSpPr>
        <p:spPr>
          <a:xfrm>
            <a:off x="5943600" y="228600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51" name="Feature 4 circle"/>
          <p:cNvSpPr/>
          <p:nvPr/>
        </p:nvSpPr>
        <p:spPr>
          <a:xfrm>
            <a:off x="6080760" y="2542032"/>
            <a:ext cx="493776" cy="493776"/>
          </a:xfrm>
          <a:prstGeom prst="ellipse">
            <a:avLst/>
          </a:prstGeom>
          <a:solidFill>
            <a:srgbClr val="C4384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52" name="Feature 4 icon" descr="Fea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4080" y="2675352"/>
            <a:ext cx="227137" cy="227137"/>
          </a:xfrm>
          <a:prstGeom prst="rect">
            <a:avLst/>
          </a:prstGeom>
        </p:spPr>
      </p:pic>
      <p:sp>
        <p:nvSpPr>
          <p:cNvPr id="53" name="Text 47"/>
          <p:cNvSpPr txBox="1"/>
          <p:nvPr/>
        </p:nvSpPr>
        <p:spPr>
          <a:xfrm>
            <a:off x="6675120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Personal insights</a:t>
            </a:r>
            <a:endParaRPr lang="en-US" sz="1400" dirty="0"/>
          </a:p>
        </p:txBody>
      </p:sp>
      <p:sp>
        <p:nvSpPr>
          <p:cNvPr id="54" name="Text 48"/>
          <p:cNvSpPr txBox="1"/>
          <p:nvPr/>
        </p:nvSpPr>
        <p:spPr>
          <a:xfrm>
            <a:off x="6675120" y="26883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Plain-language observations from your data</a:t>
            </a:r>
            <a:endParaRPr lang="en-US" sz="1100" dirty="0"/>
          </a:p>
        </p:txBody>
      </p:sp>
      <p:sp>
        <p:nvSpPr>
          <p:cNvPr id="55" name="Feature card 5"/>
          <p:cNvSpPr/>
          <p:nvPr/>
        </p:nvSpPr>
        <p:spPr>
          <a:xfrm>
            <a:off x="3017520" y="342900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56" name="Feature 5 circle"/>
          <p:cNvSpPr/>
          <p:nvPr/>
        </p:nvSpPr>
        <p:spPr>
          <a:xfrm>
            <a:off x="3154680" y="3685032"/>
            <a:ext cx="493776" cy="493776"/>
          </a:xfrm>
          <a:prstGeom prst="ellipse">
            <a:avLst/>
          </a:prstGeom>
          <a:solidFill>
            <a:srgbClr val="8E1B33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57" name="Feature 5 icon" descr="Fea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88000" y="3818352"/>
            <a:ext cx="227137" cy="227137"/>
          </a:xfrm>
          <a:prstGeom prst="rect">
            <a:avLst/>
          </a:prstGeom>
        </p:spPr>
      </p:pic>
      <p:sp>
        <p:nvSpPr>
          <p:cNvPr id="58" name="Text 51"/>
          <p:cNvSpPr txBox="1"/>
          <p:nvPr/>
        </p:nvSpPr>
        <p:spPr>
          <a:xfrm>
            <a:off x="3749040" y="3538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Appointment report</a:t>
            </a:r>
            <a:endParaRPr lang="en-US" sz="1400" dirty="0"/>
          </a:p>
        </p:txBody>
      </p:sp>
      <p:sp>
        <p:nvSpPr>
          <p:cNvPr id="59" name="Text 52"/>
          <p:cNvSpPr txBox="1"/>
          <p:nvPr/>
        </p:nvSpPr>
        <p:spPr>
          <a:xfrm>
            <a:off x="3749040" y="38313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Exportable summary for your clinician</a:t>
            </a:r>
            <a:endParaRPr lang="en-US" sz="1100" dirty="0"/>
          </a:p>
        </p:txBody>
      </p:sp>
      <p:sp>
        <p:nvSpPr>
          <p:cNvPr id="60" name="Feature card 6"/>
          <p:cNvSpPr/>
          <p:nvPr/>
        </p:nvSpPr>
        <p:spPr>
          <a:xfrm>
            <a:off x="5943600" y="3429000"/>
            <a:ext cx="27432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61" name="Feature 6 circle"/>
          <p:cNvSpPr/>
          <p:nvPr/>
        </p:nvSpPr>
        <p:spPr>
          <a:xfrm>
            <a:off x="6080760" y="3685032"/>
            <a:ext cx="493776" cy="493776"/>
          </a:xfrm>
          <a:prstGeom prst="ellipse">
            <a:avLst/>
          </a:prstGeom>
          <a:solidFill>
            <a:srgbClr val="C4384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62" name="Feature 6 icon" descr="Fea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4080" y="3818352"/>
            <a:ext cx="227137" cy="227137"/>
          </a:xfrm>
          <a:prstGeom prst="rect">
            <a:avLst/>
          </a:prstGeom>
        </p:spPr>
      </p:pic>
      <p:sp>
        <p:nvSpPr>
          <p:cNvPr id="63" name="Text 55"/>
          <p:cNvSpPr txBox="1"/>
          <p:nvPr/>
        </p:nvSpPr>
        <p:spPr>
          <a:xfrm>
            <a:off x="6675120" y="3538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Privacy first</a:t>
            </a:r>
            <a:endParaRPr lang="en-US" sz="1400" dirty="0"/>
          </a:p>
        </p:txBody>
      </p:sp>
      <p:sp>
        <p:nvSpPr>
          <p:cNvPr id="64" name="Text 56"/>
          <p:cNvSpPr txBox="1"/>
          <p:nvPr/>
        </p:nvSpPr>
        <p:spPr>
          <a:xfrm>
            <a:off x="6675120" y="383133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On-device data, PIN or biometrics, discreet alerts</a:t>
            </a:r>
            <a:endParaRPr lang="en-US" sz="110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2744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My Pattern: your own baseline</a:t>
            </a:r>
            <a:endParaRPr lang="en-US" sz="3200" dirty="0"/>
          </a:p>
        </p:txBody>
      </p:sp>
      <p:sp>
        <p:nvSpPr>
          <p:cNvPr id="3" name="Chart card"/>
          <p:cNvSpPr/>
          <p:nvPr/>
        </p:nvSpPr>
        <p:spPr>
          <a:xfrm>
            <a:off x="457200" y="1188720"/>
            <a:ext cx="4297680" cy="329184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280160"/>
          <a:ext cx="41148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tat card 1"/>
          <p:cNvSpPr/>
          <p:nvPr/>
        </p:nvSpPr>
        <p:spPr>
          <a:xfrm>
            <a:off x="4983480" y="1188720"/>
            <a:ext cx="11430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6" name="Text 3"/>
          <p:cNvSpPr txBox="1"/>
          <p:nvPr/>
        </p:nvSpPr>
        <p:spPr>
          <a:xfrm>
            <a:off x="4983480" y="12618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34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983480" y="17647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Shortest (days)</a:t>
            </a:r>
            <a:endParaRPr lang="en-US" sz="1100" dirty="0"/>
          </a:p>
        </p:txBody>
      </p:sp>
      <p:sp>
        <p:nvSpPr>
          <p:cNvPr id="8" name="Stat card 2"/>
          <p:cNvSpPr/>
          <p:nvPr/>
        </p:nvSpPr>
        <p:spPr>
          <a:xfrm>
            <a:off x="6263640" y="1188720"/>
            <a:ext cx="11430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9" name="Text 6"/>
          <p:cNvSpPr txBox="1"/>
          <p:nvPr/>
        </p:nvSpPr>
        <p:spPr>
          <a:xfrm>
            <a:off x="6263640" y="12618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52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6263640" y="17647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Average (days)</a:t>
            </a:r>
            <a:endParaRPr lang="en-US" sz="1100" dirty="0"/>
          </a:p>
        </p:txBody>
      </p:sp>
      <p:sp>
        <p:nvSpPr>
          <p:cNvPr id="11" name="Stat card 3"/>
          <p:cNvSpPr/>
          <p:nvPr/>
        </p:nvSpPr>
        <p:spPr>
          <a:xfrm>
            <a:off x="7543800" y="1188720"/>
            <a:ext cx="1143000" cy="1005840"/>
          </a:xfrm>
          <a:prstGeom prst="roundRect">
            <a:avLst>
              <a:gd name="adj" fmla="val 109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2" name="Text 9"/>
          <p:cNvSpPr txBox="1"/>
          <p:nvPr/>
        </p:nvSpPr>
        <p:spPr>
          <a:xfrm>
            <a:off x="7543800" y="126187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78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7543800" y="1764792"/>
            <a:ext cx="1143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1"/>
                </a:solidFill>
              </a:rPr>
              <a:t>Longest (days)</a:t>
            </a:r>
            <a:endParaRPr lang="en-US" sz="1100" dirty="0"/>
          </a:p>
        </p:txBody>
      </p:sp>
      <p:sp>
        <p:nvSpPr>
          <p:cNvPr id="14" name="Insight card 1"/>
          <p:cNvSpPr/>
          <p:nvPr/>
        </p:nvSpPr>
        <p:spPr>
          <a:xfrm>
            <a:off x="4983480" y="2377440"/>
            <a:ext cx="370332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15" name="Insight 1 circle"/>
          <p:cNvSpPr/>
          <p:nvPr/>
        </p:nvSpPr>
        <p:spPr>
          <a:xfrm>
            <a:off x="5138928" y="2624328"/>
            <a:ext cx="493776" cy="493776"/>
          </a:xfrm>
          <a:prstGeom prst="ellipse">
            <a:avLst/>
          </a:prstGeom>
          <a:solidFill>
            <a:srgbClr val="C4384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16" name="Insight 1 icon" descr="Insigh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248" y="2757648"/>
            <a:ext cx="227137" cy="22713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852160" y="24688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Example insight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852160" y="267004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Your current period is longer than your previous six periods.</a:t>
            </a:r>
            <a:endParaRPr lang="en-US" sz="1400" dirty="0"/>
          </a:p>
        </p:txBody>
      </p:sp>
      <p:sp>
        <p:nvSpPr>
          <p:cNvPr id="19" name="Insight card 2"/>
          <p:cNvSpPr/>
          <p:nvPr/>
        </p:nvSpPr>
        <p:spPr>
          <a:xfrm>
            <a:off x="4983480" y="3474720"/>
            <a:ext cx="3703320" cy="987552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0" name="Insight 2 circle"/>
          <p:cNvSpPr/>
          <p:nvPr/>
        </p:nvSpPr>
        <p:spPr>
          <a:xfrm>
            <a:off x="5138928" y="3721608"/>
            <a:ext cx="493776" cy="493776"/>
          </a:xfrm>
          <a:prstGeom prst="ellipse">
            <a:avLst/>
          </a:prstGeom>
          <a:solidFill>
            <a:srgbClr val="C4384C"/>
          </a:solidFill>
          <a:ln/>
        </p:spPr>
        <p:txBody>
          <a:bodyPr/>
          <a:lstStyle/>
          <a:p>
            <a:endParaRPr lang="en-IE"/>
          </a:p>
        </p:txBody>
      </p:sp>
      <p:pic>
        <p:nvPicPr>
          <p:cNvPr id="21" name="Insight 2 icon" descr="Insight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2248" y="3854928"/>
            <a:ext cx="227137" cy="227137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5852160" y="35661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6"/>
                </a:solidFill>
              </a:rPr>
              <a:t>Example insight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5852160" y="3767328"/>
            <a:ext cx="2743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chemeClr val="tx2"/>
                </a:solidFill>
              </a:rPr>
              <a:t>Fatigue has been recorded on 5 of your last 6 heavy-flow days.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2744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Local-first by design</a:t>
            </a:r>
            <a:endParaRPr lang="en-US" sz="3200" dirty="0"/>
          </a:p>
        </p:txBody>
      </p:sp>
      <p:sp>
        <p:nvSpPr>
          <p:cNvPr id="3" name="Device boundary"/>
          <p:cNvSpPr/>
          <p:nvPr/>
        </p:nvSpPr>
        <p:spPr>
          <a:xfrm>
            <a:off x="457200" y="1143000"/>
            <a:ext cx="4206240" cy="3337560"/>
          </a:xfrm>
          <a:prstGeom prst="roundRect">
            <a:avLst>
              <a:gd name="adj" fmla="val 411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en-IE"/>
          </a:p>
        </p:txBody>
      </p:sp>
      <p:sp>
        <p:nvSpPr>
          <p:cNvPr id="4" name="Text 2"/>
          <p:cNvSpPr txBox="1"/>
          <p:nvPr/>
        </p:nvSpPr>
        <p:spPr>
          <a:xfrm>
            <a:off x="685800" y="120700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chemeClr val="accent1"/>
                </a:solidFill>
              </a:rPr>
              <a:t>ON-DEVICE ONLY · NO SERVER</a:t>
            </a:r>
            <a:endParaRPr lang="en-US" sz="1000" dirty="0"/>
          </a:p>
        </p:txBody>
      </p:sp>
      <p:sp>
        <p:nvSpPr>
          <p:cNvPr id="5" name="UI layer"/>
          <p:cNvSpPr/>
          <p:nvPr/>
        </p:nvSpPr>
        <p:spPr>
          <a:xfrm>
            <a:off x="685800" y="1508760"/>
            <a:ext cx="374904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 txBox="1"/>
          <p:nvPr/>
        </p:nvSpPr>
        <p:spPr>
          <a:xfrm>
            <a:off x="685800" y="15087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UI: Calendar · Log · My Pattern</a:t>
            </a:r>
            <a:endParaRPr lang="en-US" sz="1200" dirty="0"/>
          </a:p>
        </p:txBody>
      </p:sp>
      <p:sp>
        <p:nvSpPr>
          <p:cNvPr id="7" name="Arrow"/>
          <p:cNvSpPr/>
          <p:nvPr/>
        </p:nvSpPr>
        <p:spPr>
          <a:xfrm>
            <a:off x="2560320" y="1975104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8" name="Logic layer"/>
          <p:cNvSpPr/>
          <p:nvPr/>
        </p:nvSpPr>
        <p:spPr>
          <a:xfrm>
            <a:off x="685800" y="2194560"/>
            <a:ext cx="374904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9" name="Text 7"/>
          <p:cNvSpPr txBox="1"/>
          <p:nvPr/>
        </p:nvSpPr>
        <p:spPr>
          <a:xfrm>
            <a:off x="685800" y="21945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ViewModel + Repository</a:t>
            </a:r>
            <a:endParaRPr lang="en-US" sz="1200" dirty="0"/>
          </a:p>
        </p:txBody>
      </p:sp>
      <p:sp>
        <p:nvSpPr>
          <p:cNvPr id="10" name="Arrow"/>
          <p:cNvSpPr/>
          <p:nvPr/>
        </p:nvSpPr>
        <p:spPr>
          <a:xfrm>
            <a:off x="1325880" y="2660904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11" name="Arrow"/>
          <p:cNvSpPr/>
          <p:nvPr/>
        </p:nvSpPr>
        <p:spPr>
          <a:xfrm>
            <a:off x="2743200" y="2660904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12" name="Arrow"/>
          <p:cNvSpPr/>
          <p:nvPr/>
        </p:nvSpPr>
        <p:spPr>
          <a:xfrm>
            <a:off x="3840480" y="2660904"/>
            <a:ext cx="0" cy="201168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  <p:txBody>
          <a:bodyPr/>
          <a:lstStyle/>
          <a:p>
            <a:endParaRPr lang="en-IE"/>
          </a:p>
        </p:txBody>
      </p:sp>
      <p:sp>
        <p:nvSpPr>
          <p:cNvPr id="13" name="Database"/>
          <p:cNvSpPr/>
          <p:nvPr/>
        </p:nvSpPr>
        <p:spPr>
          <a:xfrm>
            <a:off x="685800" y="2880360"/>
            <a:ext cx="1280160" cy="54864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685800" y="28803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Room / SQLite</a:t>
            </a:r>
            <a:endParaRPr lang="en-US" sz="1200" dirty="0"/>
          </a:p>
        </p:txBody>
      </p:sp>
      <p:sp>
        <p:nvSpPr>
          <p:cNvPr id="15" name="Analytics"/>
          <p:cNvSpPr/>
          <p:nvPr/>
        </p:nvSpPr>
        <p:spPr>
          <a:xfrm>
            <a:off x="2057400" y="2880360"/>
            <a:ext cx="118872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6" name="Text 14"/>
          <p:cNvSpPr txBox="1"/>
          <p:nvPr/>
        </p:nvSpPr>
        <p:spPr>
          <a:xfrm>
            <a:off x="2057400" y="2880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Analytics engine</a:t>
            </a:r>
            <a:endParaRPr lang="en-US" sz="1200" dirty="0"/>
          </a:p>
        </p:txBody>
      </p:sp>
      <p:sp>
        <p:nvSpPr>
          <p:cNvPr id="17" name="Report"/>
          <p:cNvSpPr/>
          <p:nvPr/>
        </p:nvSpPr>
        <p:spPr>
          <a:xfrm>
            <a:off x="3337560" y="2880360"/>
            <a:ext cx="1097280" cy="54864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3337560" y="28803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PDF report</a:t>
            </a:r>
            <a:endParaRPr lang="en-US" sz="1200" dirty="0"/>
          </a:p>
        </p:txBody>
      </p:sp>
      <p:sp>
        <p:nvSpPr>
          <p:cNvPr id="19" name="Security layer"/>
          <p:cNvSpPr/>
          <p:nvPr/>
        </p:nvSpPr>
        <p:spPr>
          <a:xfrm>
            <a:off x="685800" y="3703320"/>
            <a:ext cx="3749040" cy="502920"/>
          </a:xfrm>
          <a:prstGeom prst="roundRect">
            <a:avLst>
              <a:gd name="adj" fmla="val 18182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0" name="Text 18"/>
          <p:cNvSpPr txBox="1"/>
          <p:nvPr/>
        </p:nvSpPr>
        <p:spPr>
          <a:xfrm>
            <a:off x="685800" y="3703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</a:rPr>
              <a:t>PIN / biometric lock · discreet alerts</a:t>
            </a:r>
            <a:endParaRPr lang="en-US" sz="1200" dirty="0"/>
          </a:p>
        </p:txBody>
      </p:sp>
      <p:sp>
        <p:nvSpPr>
          <p:cNvPr id="21" name="Code panel"/>
          <p:cNvSpPr/>
          <p:nvPr/>
        </p:nvSpPr>
        <p:spPr>
          <a:xfrm>
            <a:off x="4937760" y="1143000"/>
            <a:ext cx="3749040" cy="3337560"/>
          </a:xfrm>
          <a:prstGeom prst="roundRect">
            <a:avLst>
              <a:gd name="adj" fmla="val 3288"/>
            </a:avLst>
          </a:prstGeom>
          <a:solidFill>
            <a:schemeClr val="tx1"/>
          </a:solidFill>
          <a:ln/>
          <a:effectLst>
            <a:outerShdw blurRad="101600" dist="25400" dir="5400000" algn="bl" rotWithShape="0">
              <a:srgbClr val="8E1B33">
                <a:alpha val="14000"/>
              </a:srgbClr>
            </a:outerShdw>
          </a:effectLst>
        </p:spPr>
        <p:txBody>
          <a:bodyPr/>
          <a:lstStyle/>
          <a:p>
            <a:endParaRPr lang="en-IE"/>
          </a:p>
        </p:txBody>
      </p:sp>
      <p:sp>
        <p:nvSpPr>
          <p:cNvPr id="22" name="Code snippets"/>
          <p:cNvSpPr txBox="1"/>
          <p:nvPr/>
        </p:nvSpPr>
        <p:spPr>
          <a:xfrm>
            <a:off x="5120640" y="1280160"/>
            <a:ext cx="34747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Room entity (illustrative)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@Entity(tableName = "</a:t>
            </a:r>
            <a:r>
              <a:rPr lang="en-US" sz="1050" dirty="0" err="1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period_log</a:t>
            </a: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")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class </a:t>
            </a:r>
            <a:r>
              <a:rPr lang="en-US" sz="1050" dirty="0" err="1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PeriodLog</a:t>
            </a: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@PrimaryKey </a:t>
            </a:r>
            <a:r>
              <a:rPr lang="en-US" sz="1050" dirty="0" err="1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date: </a:t>
            </a:r>
            <a:r>
              <a:rPr lang="en-US" sz="1050" dirty="0" err="1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LocalDate</a:t>
            </a: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 err="1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flow: Int,   // 0 none .. 3 heavy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 err="1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products: Int,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 err="1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clots: Boolean,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 err="1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</a:t>
            </a: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flooding: Boolean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chemeClr val="accent3"/>
                </a:solidFill>
                <a:latin typeface="+mn-lt" pitchFamily="34" charset="0"/>
                <a:ea typeface="+mn-lt" pitchFamily="34" charset="-122"/>
                <a:cs typeface="+mn-lt" pitchFamily="34" charset="-120"/>
              </a:rPr>
              <a:t>Insight rule (illustrative)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 </a:t>
            </a:r>
            <a:r>
              <a:rPr lang="en-US" sz="1050" dirty="0" err="1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isLongerThanUsual</a:t>
            </a: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cur: Int, hist: List&lt;Int&gt;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= </a:t>
            </a:r>
            <a:r>
              <a:rPr lang="en-US" sz="1050" dirty="0" err="1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hist.size</a:t>
            </a: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&gt;= 3 &amp;&amp;</a:t>
            </a:r>
            <a:endParaRPr lang="en-US" sz="1100" dirty="0"/>
          </a:p>
          <a:p>
            <a:pPr marL="0" indent="0">
              <a:buNone/>
            </a:pP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 &gt; </a:t>
            </a:r>
            <a:r>
              <a:rPr lang="en-US" sz="1050" dirty="0" err="1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hist.average</a:t>
            </a: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+ </a:t>
            </a:r>
            <a:r>
              <a:rPr lang="en-US" sz="1050" dirty="0" err="1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hist.stdDev</a:t>
            </a:r>
            <a:r>
              <a:rPr lang="en-US" sz="105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2744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Eleven weeks to an MVP</a:t>
            </a:r>
            <a:endParaRPr lang="en-US" sz="3200" dirty="0"/>
          </a:p>
        </p:txBody>
      </p:sp>
      <p:sp>
        <p:nvSpPr>
          <p:cNvPr id="3" name="Timeline line"/>
          <p:cNvSpPr/>
          <p:nvPr/>
        </p:nvSpPr>
        <p:spPr>
          <a:xfrm>
            <a:off x="1045029" y="2103120"/>
            <a:ext cx="7053943" cy="0"/>
          </a:xfrm>
          <a:prstGeom prst="line">
            <a:avLst/>
          </a:prstGeom>
          <a:noFill/>
          <a:ln w="38100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en-IE"/>
          </a:p>
        </p:txBody>
      </p:sp>
      <p:sp>
        <p:nvSpPr>
          <p:cNvPr id="4" name="Weeks 1"/>
          <p:cNvSpPr txBox="1"/>
          <p:nvPr/>
        </p:nvSpPr>
        <p:spPr>
          <a:xfrm>
            <a:off x="496389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Wk 5</a:t>
            </a:r>
            <a:endParaRPr lang="en-US" sz="1500" dirty="0"/>
          </a:p>
        </p:txBody>
      </p:sp>
      <p:sp>
        <p:nvSpPr>
          <p:cNvPr id="5" name="Node 1"/>
          <p:cNvSpPr/>
          <p:nvPr/>
        </p:nvSpPr>
        <p:spPr>
          <a:xfrm>
            <a:off x="825573" y="18836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6" name="Text 4"/>
          <p:cNvSpPr txBox="1"/>
          <p:nvPr/>
        </p:nvSpPr>
        <p:spPr>
          <a:xfrm>
            <a:off x="825573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Phase 1"/>
          <p:cNvSpPr txBox="1"/>
          <p:nvPr/>
        </p:nvSpPr>
        <p:spPr>
          <a:xfrm>
            <a:off x="496389" y="24688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Finalise idea, research apps, agree scope</a:t>
            </a:r>
            <a:endParaRPr lang="en-US" sz="1200" dirty="0"/>
          </a:p>
        </p:txBody>
      </p:sp>
      <p:sp>
        <p:nvSpPr>
          <p:cNvPr id="8" name="Weeks 2"/>
          <p:cNvSpPr txBox="1"/>
          <p:nvPr/>
        </p:nvSpPr>
        <p:spPr>
          <a:xfrm>
            <a:off x="1672046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Wk 6–7</a:t>
            </a:r>
            <a:endParaRPr lang="en-US" sz="1500" dirty="0"/>
          </a:p>
        </p:txBody>
      </p:sp>
      <p:sp>
        <p:nvSpPr>
          <p:cNvPr id="9" name="Node 2"/>
          <p:cNvSpPr/>
          <p:nvPr/>
        </p:nvSpPr>
        <p:spPr>
          <a:xfrm>
            <a:off x="2001230" y="18836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0" name="Text 8"/>
          <p:cNvSpPr txBox="1"/>
          <p:nvPr/>
        </p:nvSpPr>
        <p:spPr>
          <a:xfrm>
            <a:off x="2001230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Phase 2"/>
          <p:cNvSpPr txBox="1"/>
          <p:nvPr/>
        </p:nvSpPr>
        <p:spPr>
          <a:xfrm>
            <a:off x="1672046" y="24688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Project setup, navigation, calendar logging</a:t>
            </a:r>
            <a:endParaRPr lang="en-US" sz="1200" dirty="0"/>
          </a:p>
        </p:txBody>
      </p:sp>
      <p:sp>
        <p:nvSpPr>
          <p:cNvPr id="12" name="Weeks 3"/>
          <p:cNvSpPr txBox="1"/>
          <p:nvPr/>
        </p:nvSpPr>
        <p:spPr>
          <a:xfrm>
            <a:off x="2847703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Wk 8–9</a:t>
            </a:r>
            <a:endParaRPr lang="en-US" sz="1500" dirty="0"/>
          </a:p>
        </p:txBody>
      </p:sp>
      <p:sp>
        <p:nvSpPr>
          <p:cNvPr id="13" name="Node 3"/>
          <p:cNvSpPr/>
          <p:nvPr/>
        </p:nvSpPr>
        <p:spPr>
          <a:xfrm>
            <a:off x="3176887" y="18836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4" name="Text 12"/>
          <p:cNvSpPr txBox="1"/>
          <p:nvPr/>
        </p:nvSpPr>
        <p:spPr>
          <a:xfrm>
            <a:off x="3176887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Phase 3"/>
          <p:cNvSpPr txBox="1"/>
          <p:nvPr/>
        </p:nvSpPr>
        <p:spPr>
          <a:xfrm>
            <a:off x="2847703" y="24688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Bleeding and symptom tracking, My Pattern</a:t>
            </a:r>
            <a:endParaRPr lang="en-US" sz="1200" dirty="0"/>
          </a:p>
        </p:txBody>
      </p:sp>
      <p:sp>
        <p:nvSpPr>
          <p:cNvPr id="16" name="Weeks 4"/>
          <p:cNvSpPr txBox="1"/>
          <p:nvPr/>
        </p:nvSpPr>
        <p:spPr>
          <a:xfrm>
            <a:off x="4023360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Wk 10</a:t>
            </a:r>
            <a:endParaRPr lang="en-US" sz="1500" dirty="0"/>
          </a:p>
        </p:txBody>
      </p:sp>
      <p:sp>
        <p:nvSpPr>
          <p:cNvPr id="17" name="Node 4"/>
          <p:cNvSpPr/>
          <p:nvPr/>
        </p:nvSpPr>
        <p:spPr>
          <a:xfrm>
            <a:off x="4352544" y="1883664"/>
            <a:ext cx="438912" cy="43891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18" name="Text 16"/>
          <p:cNvSpPr txBox="1"/>
          <p:nvPr/>
        </p:nvSpPr>
        <p:spPr>
          <a:xfrm>
            <a:off x="4352544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Phase 4"/>
          <p:cNvSpPr txBox="1"/>
          <p:nvPr/>
        </p:nvSpPr>
        <p:spPr>
          <a:xfrm>
            <a:off x="4023360" y="24688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Core features done: Alpha build</a:t>
            </a:r>
            <a:endParaRPr lang="en-US" sz="1200" dirty="0"/>
          </a:p>
        </p:txBody>
      </p:sp>
      <p:sp>
        <p:nvSpPr>
          <p:cNvPr id="20" name="Weeks 5"/>
          <p:cNvSpPr txBox="1"/>
          <p:nvPr/>
        </p:nvSpPr>
        <p:spPr>
          <a:xfrm>
            <a:off x="5199017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Wk 11–12</a:t>
            </a:r>
            <a:endParaRPr lang="en-US" sz="1500" dirty="0"/>
          </a:p>
        </p:txBody>
      </p:sp>
      <p:sp>
        <p:nvSpPr>
          <p:cNvPr id="21" name="Node 5"/>
          <p:cNvSpPr/>
          <p:nvPr/>
        </p:nvSpPr>
        <p:spPr>
          <a:xfrm>
            <a:off x="5528201" y="18836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2" name="Text 20"/>
          <p:cNvSpPr txBox="1"/>
          <p:nvPr/>
        </p:nvSpPr>
        <p:spPr>
          <a:xfrm>
            <a:off x="5528201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Phase 5"/>
          <p:cNvSpPr txBox="1"/>
          <p:nvPr/>
        </p:nvSpPr>
        <p:spPr>
          <a:xfrm>
            <a:off x="5199017" y="24688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Appointment summary, PIN, discreet alerts</a:t>
            </a:r>
            <a:endParaRPr lang="en-US" sz="1200" dirty="0"/>
          </a:p>
        </p:txBody>
      </p:sp>
      <p:sp>
        <p:nvSpPr>
          <p:cNvPr id="24" name="Weeks 6"/>
          <p:cNvSpPr txBox="1"/>
          <p:nvPr/>
        </p:nvSpPr>
        <p:spPr>
          <a:xfrm>
            <a:off x="6374674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Wk 13</a:t>
            </a:r>
            <a:endParaRPr lang="en-US" sz="1500" dirty="0"/>
          </a:p>
        </p:txBody>
      </p:sp>
      <p:sp>
        <p:nvSpPr>
          <p:cNvPr id="25" name="Node 6"/>
          <p:cNvSpPr/>
          <p:nvPr/>
        </p:nvSpPr>
        <p:spPr>
          <a:xfrm>
            <a:off x="6703858" y="1883664"/>
            <a:ext cx="438912" cy="438912"/>
          </a:xfrm>
          <a:prstGeom prst="ellipse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26" name="Text 24"/>
          <p:cNvSpPr txBox="1"/>
          <p:nvPr/>
        </p:nvSpPr>
        <p:spPr>
          <a:xfrm>
            <a:off x="6703858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1"/>
                </a:solidFill>
              </a:rPr>
              <a:t>6</a:t>
            </a:r>
            <a:endParaRPr lang="en-US" sz="1400" dirty="0"/>
          </a:p>
        </p:txBody>
      </p:sp>
      <p:sp>
        <p:nvSpPr>
          <p:cNvPr id="27" name="Phase 6"/>
          <p:cNvSpPr txBox="1"/>
          <p:nvPr/>
        </p:nvSpPr>
        <p:spPr>
          <a:xfrm>
            <a:off x="6374674" y="24688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Stretch: data export and backup</a:t>
            </a:r>
            <a:endParaRPr lang="en-US" sz="1200" dirty="0"/>
          </a:p>
        </p:txBody>
      </p:sp>
      <p:sp>
        <p:nvSpPr>
          <p:cNvPr id="28" name="Weeks 7"/>
          <p:cNvSpPr txBox="1"/>
          <p:nvPr/>
        </p:nvSpPr>
        <p:spPr>
          <a:xfrm>
            <a:off x="7550331" y="1417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2"/>
                </a:solidFill>
              </a:rPr>
              <a:t>Wk 14–15</a:t>
            </a:r>
            <a:endParaRPr lang="en-US" sz="1500" dirty="0"/>
          </a:p>
        </p:txBody>
      </p:sp>
      <p:sp>
        <p:nvSpPr>
          <p:cNvPr id="29" name="Node 7"/>
          <p:cNvSpPr/>
          <p:nvPr/>
        </p:nvSpPr>
        <p:spPr>
          <a:xfrm>
            <a:off x="7879515" y="1883664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0" name="Text 28"/>
          <p:cNvSpPr txBox="1"/>
          <p:nvPr/>
        </p:nvSpPr>
        <p:spPr>
          <a:xfrm>
            <a:off x="7879515" y="18836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7</a:t>
            </a:r>
            <a:endParaRPr lang="en-US" sz="1400" dirty="0"/>
          </a:p>
        </p:txBody>
      </p:sp>
      <p:sp>
        <p:nvSpPr>
          <p:cNvPr id="31" name="Phase 7"/>
          <p:cNvSpPr txBox="1"/>
          <p:nvPr/>
        </p:nvSpPr>
        <p:spPr>
          <a:xfrm>
            <a:off x="7550331" y="24688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User testing, accessibility, final fixes</a:t>
            </a:r>
            <a:endParaRPr lang="en-US" sz="1200" dirty="0"/>
          </a:p>
        </p:txBody>
      </p:sp>
      <p:sp>
        <p:nvSpPr>
          <p:cNvPr id="32" name="Closing band"/>
          <p:cNvSpPr/>
          <p:nvPr/>
        </p:nvSpPr>
        <p:spPr>
          <a:xfrm>
            <a:off x="457200" y="3611880"/>
            <a:ext cx="8229600" cy="896112"/>
          </a:xfrm>
          <a:prstGeom prst="roundRect">
            <a:avLst>
              <a:gd name="adj" fmla="val 12245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IE"/>
          </a:p>
        </p:txBody>
      </p:sp>
      <p:sp>
        <p:nvSpPr>
          <p:cNvPr id="33" name="Text 31"/>
          <p:cNvSpPr txBox="1"/>
          <p:nvPr/>
        </p:nvSpPr>
        <p:spPr>
          <a:xfrm>
            <a:off x="457200" y="3675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chemeClr val="bg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Understanding rather than simply predicting</a:t>
            </a:r>
            <a:endParaRPr lang="en-US" sz="22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133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Core MVP first; encrypted backup and advanced analysis only if the app is stable</a:t>
            </a:r>
            <a:endParaRPr lang="en-US" sz="12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46720" y="4727448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gulate">
  <a:themeElements>
    <a:clrScheme name="Regulate">
      <a:dk1>
        <a:srgbClr val="3A0A14"/>
      </a:dk1>
      <a:lt1>
        <a:srgbClr val="FFFFFF"/>
      </a:lt1>
      <a:dk2>
        <a:srgbClr val="5E0A18"/>
      </a:dk2>
      <a:lt2>
        <a:srgbClr val="F9E5E0"/>
      </a:lt2>
      <a:accent1>
        <a:srgbClr val="8E1B33"/>
      </a:accent1>
      <a:accent2>
        <a:srgbClr val="C4384C"/>
      </a:accent2>
      <a:accent3>
        <a:srgbClr val="E58A94"/>
      </a:accent3>
      <a:accent4>
        <a:srgbClr val="F4C6C6"/>
      </a:accent4>
      <a:accent5>
        <a:srgbClr val="6D0D21"/>
      </a:accent5>
      <a:accent6>
        <a:srgbClr val="A8586B"/>
      </a:accent6>
      <a:hlink>
        <a:srgbClr val="8E1B33"/>
      </a:hlink>
      <a:folHlink>
        <a:srgbClr val="A8586B"/>
      </a:folHlink>
    </a:clrScheme>
    <a:fontScheme name="Regulat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601</Words>
  <Application>Microsoft Office PowerPoint</Application>
  <PresentationFormat>On-screen Show (16:9)</PresentationFormat>
  <Paragraphs>171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Regulate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Regulate - Android Project Outline</dc:title>
  <dc:subject>PptxGenJS Presentation</dc:subject>
  <dc:creator>PptxGenJS</dc:creator>
  <cp:lastModifiedBy>Hamza Yasin</cp:lastModifiedBy>
  <cp:revision>2</cp:revision>
  <dcterms:created xsi:type="dcterms:W3CDTF">2026-10-05T09:18:54Z</dcterms:created>
  <dcterms:modified xsi:type="dcterms:W3CDTF">2026-10-05T10:22:18Z</dcterms:modified>
</cp:coreProperties>
</file>